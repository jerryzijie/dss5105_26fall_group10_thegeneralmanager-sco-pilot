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64" r:id="rId5"/>
    <p:sldId id="258" r:id="rId7"/>
    <p:sldId id="265" r:id="rId8"/>
    <p:sldId id="260" r:id="rId9"/>
    <p:sldId id="261" r:id="rId10"/>
    <p:sldId id="266" r:id="rId13"/>
    <p:sldId id="267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" initials="authorId_427290473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2T22:36:26.070" idx="1">
    <p:pos x="307" y="1133"/>
    <p:text>1. 我们的产品命名方式确定吗，是否需要在这里出现，可能被询问为什么叫这个？</p:text>
  </p:cm>
  <p:cm authorId="1" dt="2026-10-12T22:37:38.292" idx="2">
    <p:pos x="463" y="1289"/>
    <p:text>2. not only the data fectcher, but also your data companion是最终我打算围绕介绍的主题，但需要考虑一下是否有必要在sprint1就把这个概念介绍出来，毕竟在sprint1中无法围绕这个进行展开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2T22:46:41.322" idx="3">
    <p:pos x="278" y="367"/>
    <p:text>PS里主要想强调的当前问题是
1. GM不是专业写SQL的人，因此对业务问题的描述很可能很模糊
2. GM提问的很多问题都可能是routine的，但是由于细节需求的变化，导致DA需要花很多时间去对齐；同时看板也不是一个很好的交互解决方案
3. 这DA的工作产生了很多的时间等待，同时DA个人对于问题的解读习惯很可能会影响到结论，导致换一个人结论会变。</p:text>
  </p:cm>
  <p:cm authorId="1" dt="2026-10-12T22:56:39.814" idx="5">
    <p:pos x="278" y="194"/>
    <p:text>2. 检查PS部分是否满足：
What business pain or opportunity exists?
What is the current state and impact?
Who is affected and how? 以上三个问题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2T22:50:43.035" idx="4">
    <p:pos x="461" y="2631"/>
    <p:text>1. 这里的result是否需要参考课件里去做损失量化，但是我感觉这个很难去估计数据</p:text>
  </p:cm>
  <p:cm authorId="1" dt="2026-10-13T00:10:54.027" idx="12">
    <p:pos x="278" y="723"/>
    <p:text>示意图，文案讲稿可看此页的备注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2T23:20:24.082" idx="7">
    <p:pos x="278" y="194"/>
    <p:text>审查是否满足What technical approach will address the problem?
What will be built or implemented?
How will it work in practice</p:text>
  </p:cm>
  <p:cm authorId="1" dt="2026-10-12T23:32:34.442" idx="9">
    <p:pos x="278" y="367"/>
    <p:text>搞点节目效果：D
如果不合适的话就换成正常的标题就可以了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2T23:18:40.677" idx="6">
    <p:pos x="712" y="683"/>
    <p:text>图片修改https://excalidraw.com/#room=48217c4c4d8dc43186e6,wU7618p7IJYchSHE_ppeUg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2T23:24:25.429" idx="8">
    <p:pos x="278" y="194"/>
    <p:text>What measurable outcomes will be achieved?What is the financial or operational impact?How will success be measured?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3T00:03:45.731" idx="11">
    <p:pos x="278" y="367"/>
    <p:text>需要给出具体的例子，展示回答结果，并给出这个回答好的关键词。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You need answers, but you don't know SQL.</a:t>
            </a:r>
          </a:p>
          <a:p>
            <a:r>
              <a:t>So, every question goes to your Data Analyst.</a:t>
            </a:r>
          </a:p>
          <a:p>
            <a:r>
              <a:t>And here's the challenge.</a:t>
            </a:r>
          </a:p>
          <a:p>
            <a:r>
              <a:t>The GM understands the business, but may not know how to translate a business question into a precise data query.</a:t>
            </a:r>
          </a:p>
          <a:p>
            <a:r>
              <a:t>The analyst understands the data, but is already busy with more complex work.</a:t>
            </a:r>
          </a:p>
          <a:p>
            <a:r>
              <a:t>What follows? Repeated clarification, manual queries, and waiting.</a:t>
            </a:r>
          </a:p>
          <a:p>
            <a:r>
              <a:t>And sometimes, different analysts interpret the same question differently.</a:t>
            </a:r>
          </a:p>
          <a:p>
            <a:r>
              <a:t>Could a dashboard solve this?</a:t>
            </a:r>
          </a:p>
          <a:p>
            <a:r>
              <a:t>Not really. Dashboards can show predefined metrics, but business questions don't always follow predefined paths.</a:t>
            </a:r>
          </a:p>
          <a:p>
            <a:r>
              <a:t>The real bottleneck isn't a lack of data. It's the gap between business questions and data-driven answers.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Here's how it works.</a:t>
            </a:r>
          </a:p>
          <a:p>
            <a:r>
              <a:t>First, an input guardrail checks whether the request is appropriate.</a:t>
            </a:r>
          </a:p>
          <a:p>
            <a:r>
              <a:t>Then comes the most important part: clarification.</a:t>
            </a:r>
          </a:p>
          <a:p>
            <a:r>
              <a:t>Imagine the GM asks, "How is the TrendCart order doing?"</a:t>
            </a:r>
          </a:p>
          <a:p>
            <a:r>
              <a:t>Instead of guessing what "doing" means, our system can ask: "Are you concerned about production progress, delivery status, or potential delays?"</a:t>
            </a:r>
          </a:p>
          <a:p>
            <a:r>
              <a:t>Once the question is clear, a feasibility check determines whether the available data can answer it.</a:t>
            </a:r>
          </a:p>
          <a:p>
            <a:r>
              <a:t>Then our AI agent selects the appropriate tools, retrieves information, and performs the necessary analysis.</a:t>
            </a:r>
          </a:p>
          <a:p>
            <a:r>
              <a:t>Finally, standardized answer templates turn those results into clear, business-friendly explanations.</a:t>
            </a:r>
          </a:p>
          <a:p>
            <a:r>
              <a:t>The GM doesn't need to understand database tables or write SQL.</a:t>
            </a:r>
          </a:p>
          <a:p>
            <a:r>
              <a:t>They just need to understand their business.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you're the General Manager of SweaterCo.</a:t>
            </a:r>
          </a:p>
          <a:p>
            <a:r>
              <a:t>It's 7 AM. You want to know: "Did anything go wrong yesterday?"</a:t>
            </a:r>
          </a:p>
          <a:p>
            <a:r>
              <a:t>At 9:40, you're checking the status of a customer order.</a:t>
            </a:r>
          </a:p>
          <a:p>
            <a:r>
              <a:t>By 11:15, another customer wants 800 hoodies delivered by the 25th. Can your factory handle it?</a:t>
            </a:r>
          </a:p>
          <a:p>
            <a:r>
              <a:t>And by 5 PM, you're still chasing delayed orders.</a:t>
            </a:r>
          </a:p>
          <a:p>
            <a:r>
              <a:t>Five questions. One busy day. And one common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that's exactly the gap we're trying to close.</a:t>
            </a:r>
          </a:p>
          <a:p>
            <a:r>
              <a:t>Introducing SweaterCo: an AI-powered data companion that turns everyday business questions into actionable insights.</a:t>
            </a:r>
          </a:p>
          <a:p>
            <a:r>
              <a:t>Our key idea is simple:</a:t>
            </a:r>
          </a:p>
          <a:p>
            <a:r>
              <a:t>Don't just answer the question. First, make sure we understand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So, what changes?</a:t>
            </a:r>
          </a:p>
          <a:p>
            <a:r>
              <a:t>Three things: Faster. Clearer. Sounder.</a:t>
            </a:r>
          </a:p>
          <a:p>
            <a:r>
              <a:t>Faster, because routine questions no longer need to wait in the analyst's queue.</a:t>
            </a:r>
          </a:p>
          <a:p>
            <a:r>
              <a:t>Clearer, because the system helps the GM clarify vague questions, reducing the time spent on back-and-forth communication.</a:t>
            </a:r>
          </a:p>
          <a:p>
            <a:r>
              <a:t>Grounded, because answers are built on predefined tools and explicit business logic, making every result traceable and explainable.</a:t>
            </a:r>
          </a:p>
          <a:p>
            <a:r>
              <a:t>This isn't about replacing Data Analysts.</a:t>
            </a:r>
          </a:p>
          <a:p>
            <a:r>
              <a:t>It's about freeing them from repetitive requests so they can focus on the deeper analysis where their expertise matters most.</a:t>
            </a:r>
          </a:p>
          <a:p>
            <a:r>
              <a:t>We give managers faster access to answers, and analysts more time for meaningful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 course, we've identified four key risks.</a:t>
            </a:r>
          </a:p>
          <a:p>
            <a:r>
              <a:t>First, cost. Agentic reasoning can be expensive, so we've introduced tighter API usage controls to manage our budget.</a:t>
            </a:r>
          </a:p>
          <a:p>
            <a:r>
              <a:t>Second, hallucination. AI may generate inaccurate answers, so we use predefined tools, explicit business logic, and structured prompts to reduce this risk.</a:t>
            </a:r>
          </a:p>
          <a:p>
            <a:r>
              <a:t>Third, data quality. Poor data can undermine our analysis, so we've conducted data reviews, established a semantic layer, and expanded the dataset where necessary.</a:t>
            </a:r>
          </a:p>
          <a:p>
            <a:r>
              <a:t>Finally, adoption. GMs may struggle to trust AI-generated answers, so we'll improve transparency and explainability in future sprints.</a:t>
            </a:r>
          </a:p>
          <a:p>
            <a:r>
              <a:t>For this first prototype, we operate under several assumptions, including full GM data access, reliable database records, and a fixed reference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 to Sprint 2, we've conducted a systematic internal evaluation, gathering feedback from every team member.</a:t>
            </a:r>
          </a:p>
          <a:p>
            <a:r>
              <a:t>Based on this feedback and our project goals, we've identified three priorities for future development.</a:t>
            </a:r>
          </a:p>
          <a:p>
            <a:r>
              <a:t>First, strengthening our core business value. We'll refine business logic for clearer insights, improve clarification to reduce ambiguity, and optimize agent workflows for faster responses.</a:t>
            </a:r>
          </a:p>
          <a:p>
            <a:r>
              <a:t>Second, addressing gaps identified in our internal evaluation. We'll improve how results are presented through interactive visualizations and strengthen conversation memory to support more continuous and reliable interactions.</a:t>
            </a:r>
          </a:p>
          <a:p>
            <a:r>
              <a:t>Finally, managing our key risks, especially trust. We'll make our answers more transparent and explainable, showing not just what the result is, but why, supported by underlying data and tools.</a:t>
            </a:r>
          </a:p>
          <a:p>
            <a:r>
              <a:t>Our goal is to move beyond a working prototype toward a reliable, practical data companion for everyday business decisions.</a:t>
            </a:r>
          </a:p>
          <a:p/>
          <a:p>
            <a:r>
              <a:t>Sprint 2 is a success when three things are true. A vague question is clarified before the answer. The conversation continues, and the result can be explored. The reasoning is written out, from the data and the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7 AM again.</a:t>
            </a:r>
          </a:p>
          <a:p>
            <a:r>
              <a:t>The same question: "Did anything go wrong yesterday?"</a:t>
            </a:r>
          </a:p>
          <a:p>
            <a:r>
              <a:t>But this time, instead of sending another request to an analyst, the GM simply asks SweaterCo.</a:t>
            </a:r>
          </a:p>
          <a:p>
            <a:r>
              <a:t>And that is the future we're building.</a:t>
            </a:r>
          </a:p>
          <a:p>
            <a:r>
              <a:t>Not just a data fetcher. A data companion.</a:t>
            </a:r>
          </a:p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slideLayout" Target="../slideLayouts/slideLayout7.xml"/><Relationship Id="rId17" Type="http://schemas.openxmlformats.org/officeDocument/2006/relationships/comments" Target="../comments/comment2.xml"/><Relationship Id="rId18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Relationship Id="rId5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omments" Target="../comments/comment4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Relationship Id="rId8" Type="http://schemas.openxmlformats.org/officeDocument/2006/relationships/tags" Target="../tags/tag23.xml"/><Relationship Id="rId9" Type="http://schemas.openxmlformats.org/officeDocument/2006/relationships/tags" Target="../tags/tag24.xml"/><Relationship Id="rId10" Type="http://schemas.openxmlformats.org/officeDocument/2006/relationships/slideLayout" Target="../slideLayouts/slideLayout7.xml"/><Relationship Id="rId11" Type="http://schemas.openxmlformats.org/officeDocument/2006/relationships/comments" Target="../comments/comment6.xml"/><Relationship Id="rId1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omments" Target="../comments/comment7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C6A3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DSS5105  ·  TRACK 1  ·  WEEK 9  ·  5 MINUTES</a:t>
            </a:r>
            <a:endParaRPr sz="1400" b="1">
              <a:solidFill>
                <a:srgbClr val="8C6A3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C19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SweaterCo</a:t>
            </a:r>
            <a:r>
              <a:rPr lang="en-US" sz="4000" b="1">
                <a:solidFill>
                  <a:srgbClr val="1C19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-- your data companion</a:t>
            </a:r>
            <a:endParaRPr lang="en-US" sz="4000" b="1">
              <a:solidFill>
                <a:srgbClr val="1C19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29718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5C564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Sprint 1 review  ·  Group 10  ·  16 October 2026</a:t>
            </a:r>
            <a:endParaRPr sz="2200" b="0">
              <a:solidFill>
                <a:srgbClr val="5C564E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promise: the manager does not write SQL, and one question returns a result they can check. This is not a product launch. We are here to show the problem is worth solving, and that the first cut has already met a real question.</a:t>
            </a:r>
            <a:endParaRPr sz="2200" b="0">
              <a:solidFill>
                <a:srgbClr val="1C1917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C564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Group 10  ·  Sprint 1  ·  Edit the text in place</a:t>
            </a:r>
            <a:endParaRPr sz="1100" b="0">
              <a:solidFill>
                <a:srgbClr val="5C564E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564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/ 8</a:t>
            </a:r>
            <a:endParaRPr sz="1100" b="0">
              <a:solidFill>
                <a:srgbClr val="5C564E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42432"/>
            <a:ext cx="12191695" cy="111556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742432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01   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One day at SweaterCo.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You are the GM.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9343" y="3456432"/>
            <a:ext cx="8924544" cy="13716"/>
          </a:xfrm>
          <a:prstGeom prst="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07792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7:00 AM</a:t>
            </a:r>
          </a:p>
        </p:txBody>
      </p:sp>
      <p:sp>
        <p:nvSpPr>
          <p:cNvPr id="9" name="Oval 8"/>
          <p:cNvSpPr/>
          <p:nvPr/>
        </p:nvSpPr>
        <p:spPr>
          <a:xfrm>
            <a:off x="1549907" y="3406139"/>
            <a:ext cx="118872" cy="118872"/>
          </a:xfrm>
          <a:prstGeom prst="ellipse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94760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Anything wrong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yesterday?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2907792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9:40 AM</a:t>
            </a:r>
          </a:p>
        </p:txBody>
      </p:sp>
      <p:sp>
        <p:nvSpPr>
          <p:cNvPr id="12" name="Oval 11"/>
          <p:cNvSpPr/>
          <p:nvPr/>
        </p:nvSpPr>
        <p:spPr>
          <a:xfrm>
            <a:off x="3781044" y="3406139"/>
            <a:ext cx="118872" cy="118872"/>
          </a:xfrm>
          <a:prstGeom prst="ellipse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8064" y="3794760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Where is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the order?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07792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11:15 AM</a:t>
            </a:r>
          </a:p>
        </p:txBody>
      </p:sp>
      <p:sp>
        <p:nvSpPr>
          <p:cNvPr id="15" name="Oval 14"/>
          <p:cNvSpPr/>
          <p:nvPr/>
        </p:nvSpPr>
        <p:spPr>
          <a:xfrm>
            <a:off x="6012179" y="3406139"/>
            <a:ext cx="118872" cy="118872"/>
          </a:xfrm>
          <a:prstGeom prst="ellipse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794760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800 hoodies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by the 25th?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0336" y="2907792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2:30 PM</a:t>
            </a:r>
          </a:p>
        </p:txBody>
      </p:sp>
      <p:sp>
        <p:nvSpPr>
          <p:cNvPr id="18" name="Oval 17"/>
          <p:cNvSpPr/>
          <p:nvPr/>
        </p:nvSpPr>
        <p:spPr>
          <a:xfrm>
            <a:off x="8243316" y="3406139"/>
            <a:ext cx="118872" cy="118872"/>
          </a:xfrm>
          <a:prstGeom prst="ellipse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3794760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It hasn't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907792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5:00 PM</a:t>
            </a:r>
          </a:p>
        </p:txBody>
      </p:sp>
      <p:sp>
        <p:nvSpPr>
          <p:cNvPr id="21" name="Oval 20"/>
          <p:cNvSpPr/>
          <p:nvPr/>
        </p:nvSpPr>
        <p:spPr>
          <a:xfrm>
            <a:off x="10474452" y="3406139"/>
            <a:ext cx="118872" cy="118872"/>
          </a:xfrm>
          <a:prstGeom prst="ellipse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3794760"/>
            <a:ext cx="2084831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Still chasing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what's 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742432"/>
            <a:ext cx="4063898" cy="11155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Five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3898" y="5742432"/>
            <a:ext cx="4063898" cy="11155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busy 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3898" y="6053328"/>
            <a:ext cx="10972" cy="493776"/>
          </a:xfrm>
          <a:prstGeom prst="rect">
            <a:avLst/>
          </a:prstGeom>
          <a:solidFill>
            <a:srgbClr val="3A3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7796" y="5742432"/>
            <a:ext cx="4063898" cy="11155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4C796"/>
                </a:solidFill>
                <a:latin typeface="Calibri"/>
                <a:ea typeface="Calibri"/>
                <a:cs typeface="Calibri"/>
              </a:rPr>
              <a:t>One common problem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7796" y="6053328"/>
            <a:ext cx="10972" cy="493776"/>
          </a:xfrm>
          <a:prstGeom prst="rect">
            <a:avLst/>
          </a:prstGeom>
          <a:solidFill>
            <a:srgbClr val="3A3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23560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01   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You need answers.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You don't know SQL.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THE GM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8352" y="212140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THE ANALYST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87168"/>
            <a:ext cx="4297680" cy="16459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88352" y="2487168"/>
            <a:ext cx="4297680" cy="16459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304288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Knows the business.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Cannot write the query.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2697480"/>
            <a:ext cx="42976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Knows the data.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Already on harder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3192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WHAT FOLLOWS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01</a:t>
            </a: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    Wait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22452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02</a:t>
            </a: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    Clarify again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2452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03</a:t>
            </a: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    Query by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2452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04</a:t>
            </a: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    Answers differ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Not a dashboard.</a:t>
            </a:r>
            <a:r>
              <a:rPr sz="16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    Only metrics chosen in advance.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064240" cy="1234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 a lack of data.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4C796"/>
                </a:solidFill>
                <a:latin typeface="Calibri"/>
                <a:ea typeface="Calibri"/>
                <a:cs typeface="Calibri"/>
              </a:rPr>
              <a:t>The gap between the question and the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50992"/>
            <a:ext cx="12191695" cy="120700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50992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02    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Clarification is all you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Closing the gap between the business question and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SweaterCo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An AI-powered data companion.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4892040" cy="16916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93992" y="3154680"/>
            <a:ext cx="4892040" cy="16916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623560" y="3822191"/>
            <a:ext cx="960120" cy="347472"/>
          </a:xfrm>
          <a:prstGeom prst="rightArrow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Everyday business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329184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365760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Actionable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50992"/>
            <a:ext cx="11155680" cy="12070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Don't just answer the question.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E4C796"/>
                </a:solidFill>
                <a:latin typeface="Calibri"/>
                <a:ea typeface="Calibri"/>
                <a:cs typeface="Calibri"/>
              </a:rPr>
              <a:t>First, make sure we understand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87568"/>
            <a:ext cx="12191695" cy="11704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87568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02    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6012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60120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Input 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197864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Is the request appropriate?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435608"/>
            <a:ext cx="5806440" cy="530352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9050">
            <a:solidFill>
              <a:srgbClr val="8C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435608"/>
            <a:ext cx="54864" cy="530352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72184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472184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Clarification</a:t>
            </a:r>
            <a:r>
              <a:rPr sz="11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    MOST IMPORTANT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709928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Understand the question before answering.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98424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984248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Feasibility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221991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Can the available data answer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4963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496312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734056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Select tools. Retrieve. Analyze.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008376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008376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Answer templates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46120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Clear, business-friendly explanations.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593592"/>
            <a:ext cx="5806440" cy="1938527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6850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THE GM 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88620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"How is the TrendCart order doing?"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2702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We do not guess what "doing" means.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58114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WE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7823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Are you concerned about...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00176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Production progress   ·   Delivery status   ·   Potential delays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960120"/>
            <a:ext cx="5376672" cy="4572000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 w="15875">
            <a:solidFill>
              <a:srgbClr val="8C6A3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788920"/>
            <a:ext cx="5376672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Architecture diagram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Place the figure 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87568"/>
            <a:ext cx="11247120" cy="11704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database tables. No SQL.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E4C796"/>
                </a:solidFill>
                <a:latin typeface="Calibri"/>
                <a:ea typeface="Calibri"/>
                <a:cs typeface="Calibri"/>
              </a:rPr>
              <a:t>Just the business.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50992"/>
            <a:ext cx="12191695" cy="120700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50992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03    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What changes?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611880" cy="64008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21991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Faster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26079"/>
            <a:ext cx="3099816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Routine questions no longer wait in the analyst's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874519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874519"/>
            <a:ext cx="3611880" cy="64008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21991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Clearer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6079"/>
            <a:ext cx="3099816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The system helps the GM clarify vague questions, so less time goes to back and forth.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74519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874519"/>
            <a:ext cx="3611880" cy="64008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221991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Sounder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926079"/>
            <a:ext cx="3099816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Grounded in predefined tools and explicit business logic. Every result is traceable and explainable.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50992"/>
            <a:ext cx="11155680" cy="12070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 replacing analysts. Freeing them for the deeper work.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4C796"/>
                </a:solidFill>
                <a:latin typeface="Calibri"/>
                <a:ea typeface="Calibri"/>
                <a:cs typeface="Calibri"/>
              </a:rPr>
              <a:t>Faster answers for managers. More time for analysts.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04    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84048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Four key risks.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932688"/>
          <a:ext cx="113842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34440"/>
                <a:gridCol w="1051560"/>
                <a:gridCol w="3886200"/>
                <a:gridCol w="37947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</a:p>
                  </a:txBody>
                  <a:tcPr anchor="ctr" marL="91440" marR="73152" marT="54864" marB="54864">
                    <a:solidFill>
                      <a:srgbClr val="1C1917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Probability</a:t>
                      </a:r>
                    </a:p>
                  </a:txBody>
                  <a:tcPr anchor="ctr" marL="91440" marR="73152" marT="54864" marB="54864">
                    <a:solidFill>
                      <a:srgbClr val="1C1917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</a:p>
                  </a:txBody>
                  <a:tcPr anchor="ctr" marL="91440" marR="73152" marT="54864" marB="54864">
                    <a:solidFill>
                      <a:srgbClr val="1C1917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can go wrong</a:t>
                      </a:r>
                    </a:p>
                  </a:txBody>
                  <a:tcPr anchor="ctr" marL="91440" marR="73152" marT="54864" marB="54864">
                    <a:solidFill>
                      <a:srgbClr val="1C1917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How we respond</a:t>
                      </a:r>
                    </a:p>
                  </a:txBody>
                  <a:tcPr anchor="ctr" marL="91440" marR="73152" marT="54864" marB="54864">
                    <a:solidFill>
                      <a:srgbClr val="1C1917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Expense</a:t>
                      </a:r>
                    </a:p>
                  </a:txBody>
                  <a:tcPr anchor="ctr" marL="91440" marR="73152" marT="54864" marB="54864">
                    <a:solidFill>
                      <a:srgbClr val="FFFCF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 anchor="ctr" marL="91440" marR="73152" marT="54864" marB="54864">
                    <a:solidFill>
                      <a:srgbClr val="8C6A3D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 anchor="ctr" marL="91440" marR="73152" marT="54864" marB="54864">
                    <a:solidFill>
                      <a:srgbClr val="8C6A3D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Complex agent reasoning and frequent testing can drive high operating cost.</a:t>
                      </a:r>
                    </a:p>
                  </a:txBody>
                  <a:tcPr anchor="ctr" marL="91440" marR="73152" marT="54864" marB="54864">
                    <a:solidFill>
                      <a:srgbClr val="FFFCF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Stricter API usage rules for the team.</a:t>
                      </a:r>
                    </a:p>
                  </a:txBody>
                  <a:tcPr anchor="ctr" marL="91440" marR="73152" marT="54864" marB="54864">
                    <a:solidFill>
                      <a:srgbClr val="FFFCF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Hallucination</a:t>
                      </a:r>
                    </a:p>
                  </a:txBody>
                  <a:tcPr anchor="ctr" marL="91440" marR="73152" marT="54864" marB="54864">
                    <a:solidFill>
                      <a:srgbClr val="FBF7F1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</a:p>
                  </a:txBody>
                  <a:tcPr anchor="ctr" marL="91440" marR="73152" marT="54864" marB="54864">
                    <a:solidFill>
                      <a:srgbClr val="F3EBE0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 anchor="ctr" marL="91440" marR="73152" marT="54864" marB="54864">
                    <a:solidFill>
                      <a:srgbClr val="8C6A3D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The agent may give an inaccurate answer, or misread an analytical result.</a:t>
                      </a:r>
                    </a:p>
                  </a:txBody>
                  <a:tcPr anchor="ctr" marL="91440" marR="73152" marT="54864" marB="54864">
                    <a:solidFill>
                      <a:srgbClr val="FBF7F1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Python business rules, few-shot templates, and evaluation against verified answers.</a:t>
                      </a:r>
                    </a:p>
                  </a:txBody>
                  <a:tcPr anchor="ctr" marL="91440" marR="73152" marT="54864" marB="54864">
                    <a:solidFill>
                      <a:srgbClr val="FBF7F1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Data quality</a:t>
                      </a:r>
                    </a:p>
                  </a:txBody>
                  <a:tcPr anchor="ctr" marL="91440" marR="73152" marT="54864" marB="54864">
                    <a:solidFill>
                      <a:srgbClr val="FFFCF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C564E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</a:p>
                  </a:txBody>
                  <a:tcPr anchor="ctr" marL="91440" marR="73152" marT="54864" marB="54864">
                    <a:solidFill>
                      <a:srgbClr val="E4DDD2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</a:p>
                  </a:txBody>
                  <a:tcPr anchor="ctr" marL="91440" marR="73152" marT="54864" marB="54864">
                    <a:solidFill>
                      <a:srgbClr val="F3EBE0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Incomplete, outdated, or inconsistent data can mislead, or leave a question unanswered.</a:t>
                      </a:r>
                    </a:p>
                  </a:txBody>
                  <a:tcPr anchor="ctr" marL="91440" marR="73152" marT="54864" marB="54864">
                    <a:solidFill>
                      <a:srgbClr val="FFFCF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A data feasibility check, and a semantic layer that fixes the form of the data.</a:t>
                      </a:r>
                    </a:p>
                  </a:txBody>
                  <a:tcPr anchor="ctr" marL="91440" marR="73152" marT="54864" marB="54864">
                    <a:solidFill>
                      <a:srgbClr val="FFFCF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Adoption</a:t>
                      </a:r>
                    </a:p>
                  </a:txBody>
                  <a:tcPr anchor="ctr" marL="91440" marR="73152" marT="54864" marB="54864">
                    <a:solidFill>
                      <a:srgbClr val="FBF7F1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</a:p>
                  </a:txBody>
                  <a:tcPr anchor="ctr" marL="91440" marR="73152" marT="54864" marB="54864">
                    <a:solidFill>
                      <a:srgbClr val="F3EBE0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</a:p>
                  </a:txBody>
                  <a:tcPr anchor="ctr" marL="91440" marR="73152" marT="54864" marB="54864">
                    <a:solidFill>
                      <a:srgbClr val="F3EBE0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GMs and analysts may hesitate, worried about accuracy, transparency, and the change in how they work.</a:t>
                      </a:r>
                    </a:p>
                  </a:txBody>
                  <a:tcPr anchor="ctr" marL="91440" marR="73152" marT="54864" marB="54864">
                    <a:solidFill>
                      <a:srgbClr val="FBF7F1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Transparent explanations, traceable results, and gradual adoption with human oversight.</a:t>
                      </a:r>
                    </a:p>
                  </a:txBody>
                  <a:tcPr anchor="ctr" marL="91440" marR="73152" marT="54864" marB="54864">
                    <a:solidFill>
                      <a:srgbClr val="FBF7F1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4048" y="461772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46177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For this first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919472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Full GM data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919472"/>
            <a:ext cx="84124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The GM can see every record in the database. There is no extra permission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5486400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Reliable database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486400"/>
            <a:ext cx="84124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We treat the data as accurate, complete, and true to how the factory runs.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053328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Fixed reference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6053328"/>
            <a:ext cx="84124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Every time-based answer uses 1 April 2026 as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87568"/>
            <a:ext cx="12191695" cy="117043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87568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05   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47472"/>
            <a:ext cx="91440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Three priorities.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786384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From a full-team evaluation.</a:t>
            </a:r>
          </a:p>
        </p:txBody>
      </p:sp>
      <p:sp>
        <p:nvSpPr>
          <p:cNvPr id="8" name="Freeform 7"/>
          <p:cNvSpPr/>
          <p:nvPr/>
        </p:nvSpPr>
        <p:spPr>
          <a:xfrm>
            <a:off x="502920" y="2761488"/>
            <a:ext cx="11155680" cy="1335024"/>
          </a:xfrm>
          <a:custGeom>
            <a:avLst/>
            <a:gdLst/>
            <a:ahLst/>
            <a:cxnLst/>
            <a:rect l="l" t="t" r="r" b="b"/>
            <a:pathLst>
              <a:path w="11155680" h="1335024">
                <a:moveTo>
                  <a:pt x="0" y="393192"/>
                </a:moveTo>
                <a:lnTo>
                  <a:pt x="1463040" y="0"/>
                </a:lnTo>
                <a:lnTo>
                  <a:pt x="5577840" y="1335024"/>
                </a:lnTo>
                <a:lnTo>
                  <a:pt x="9692640" y="0"/>
                </a:lnTo>
                <a:lnTo>
                  <a:pt x="11155680" y="393192"/>
                </a:lnTo>
              </a:path>
            </a:pathLst>
          </a:custGeom>
          <a:noFill/>
          <a:ln w="31750" cap="rnd" cmpd="sng">
            <a:solidFill>
              <a:srgbClr val="8C6A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3664" y="2679192"/>
            <a:ext cx="164592" cy="164592"/>
          </a:xfrm>
          <a:prstGeom prst="ellipse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02412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243584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Core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09344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Sharpen the business logic.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Clarify the vague question.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Speed up the agent workflow.</a:t>
            </a:r>
          </a:p>
        </p:txBody>
      </p:sp>
      <p:sp>
        <p:nvSpPr>
          <p:cNvPr id="13" name="Oval 12"/>
          <p:cNvSpPr/>
          <p:nvPr/>
        </p:nvSpPr>
        <p:spPr>
          <a:xfrm>
            <a:off x="5998464" y="4014216"/>
            <a:ext cx="164592" cy="164592"/>
          </a:xfrm>
          <a:prstGeom prst="ellipse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4315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535424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The gaps we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4901183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Interactive visuals for the result.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Memory that keeps the conversation.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10113264" y="2679192"/>
            <a:ext cx="164592" cy="164592"/>
          </a:xfrm>
          <a:prstGeom prst="ellipse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02412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243584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9344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Show the result, and why.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The why sits on the data and the tools.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87568"/>
            <a:ext cx="11247120" cy="11704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4C796"/>
                </a:solidFill>
                <a:latin typeface="Calibri"/>
              </a:rPr>
              <a:t>SUCCESS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vague question is clarified before the answer.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conversation continues, and the result can be explored.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reasoning is written out, from the data and the tools.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E4C796"/>
                </a:solidFill>
                <a:latin typeface="Calibri"/>
              </a:rPr>
              <a:t>Beyond a working prototype.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7:00 AM     ·     THE SAME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"Did anything go wrong yesterday?"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This time, the GM asks SweaterCo.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2011680" cy="18288"/>
          </a:xfrm>
          <a:prstGeom prst="rect">
            <a:avLst/>
          </a:prstGeom>
          <a:solidFill>
            <a:srgbClr val="8C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Not a data fetcher.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A data companion.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59436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Group 10   ·   Sprint 1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2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3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4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5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6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7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8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9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10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11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12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13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14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15.xml><?xml version="1.0" encoding="utf-8"?>
<p:tagLst xmlns:p="http://schemas.openxmlformats.org/presentationml/2006/main">
  <p:tag name="KSO_WM_DIAGRAM_VIRTUALLY_FRAME" val="{&quot;height&quot;:237.35,&quot;left&quot;:20.5,&quot;top&quot;:104.65,&quot;width&quot;:919.0999212598424}"/>
</p:tagLst>
</file>

<file path=ppt/tags/tag16.xml><?xml version="1.0" encoding="utf-8"?>
<p:tagLst xmlns:p="http://schemas.openxmlformats.org/presentationml/2006/main">
  <p:tag name="KSO_WM_DIAGRAM_VIRTUALLY_FRAME" val="{&quot;height&quot;:280.8,&quot;left&quot;:36,&quot;top&quot;:172.8,&quot;width&quot;:885.6}"/>
</p:tagLst>
</file>

<file path=ppt/tags/tag17.xml><?xml version="1.0" encoding="utf-8"?>
<p:tagLst xmlns:p="http://schemas.openxmlformats.org/presentationml/2006/main">
  <p:tag name="KSO_WM_DIAGRAM_VIRTUALLY_FRAME" val="{&quot;height&quot;:280.8,&quot;left&quot;:36,&quot;top&quot;:172.8,&quot;width&quot;:885.6}"/>
</p:tagLst>
</file>

<file path=ppt/tags/tag18.xml><?xml version="1.0" encoding="utf-8"?>
<p:tagLst xmlns:p="http://schemas.openxmlformats.org/presentationml/2006/main">
  <p:tag name="KSO_WM_DIAGRAM_VIRTUALLY_FRAME" val="{&quot;height&quot;:280.8,&quot;left&quot;:36,&quot;top&quot;:172.8,&quot;width&quot;:885.6}"/>
</p:tagLst>
</file>

<file path=ppt/tags/tag19.xml><?xml version="1.0" encoding="utf-8"?>
<p:tagLst xmlns:p="http://schemas.openxmlformats.org/presentationml/2006/main">
  <p:tag name="KSO_WM_DIAGRAM_VIRTUALLY_FRAME" val="{&quot;height&quot;:280.8,&quot;left&quot;:36,&quot;top&quot;:172.8,&quot;width&quot;:885.6}"/>
</p:tagLst>
</file>

<file path=ppt/tags/tag20.xml><?xml version="1.0" encoding="utf-8"?>
<p:tagLst xmlns:p="http://schemas.openxmlformats.org/presentationml/2006/main">
  <p:tag name="KSO_WM_DIAGRAM_VIRTUALLY_FRAME" val="{&quot;height&quot;:280.8,&quot;left&quot;:36,&quot;top&quot;:172.8,&quot;width&quot;:885.6}"/>
</p:tagLst>
</file>

<file path=ppt/tags/tag21.xml><?xml version="1.0" encoding="utf-8"?>
<p:tagLst xmlns:p="http://schemas.openxmlformats.org/presentationml/2006/main">
  <p:tag name="KSO_WM_DIAGRAM_VIRTUALLY_FRAME" val="{&quot;height&quot;:280.8,&quot;left&quot;:36,&quot;top&quot;:172.8,&quot;width&quot;:885.6}"/>
</p:tagLst>
</file>

<file path=ppt/tags/tag22.xml><?xml version="1.0" encoding="utf-8"?>
<p:tagLst xmlns:p="http://schemas.openxmlformats.org/presentationml/2006/main">
  <p:tag name="KSO_WM_DIAGRAM_VIRTUALLY_FRAME" val="{&quot;height&quot;:280.8,&quot;left&quot;:36,&quot;top&quot;:172.8,&quot;width&quot;:885.6}"/>
</p:tagLst>
</file>

<file path=ppt/tags/tag23.xml><?xml version="1.0" encoding="utf-8"?>
<p:tagLst xmlns:p="http://schemas.openxmlformats.org/presentationml/2006/main">
  <p:tag name="KSO_WM_DIAGRAM_VIRTUALLY_FRAME" val="{&quot;height&quot;:280.8,&quot;left&quot;:36,&quot;top&quot;:172.8,&quot;width&quot;:885.6}"/>
</p:tagLst>
</file>

<file path=ppt/tags/tag24.xml><?xml version="1.0" encoding="utf-8"?>
<p:tagLst xmlns:p="http://schemas.openxmlformats.org/presentationml/2006/main">
  <p:tag name="KSO_WM_DIAGRAM_VIRTUALLY_FRAME" val="{&quot;height&quot;:280.8,&quot;left&quot;:36,&quot;top&quot;:172.8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6852</Words>
  <Application>WPS 演示</Application>
  <PresentationFormat>On-screen Show (4:3)</PresentationFormat>
  <Paragraphs>187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Presentation_Group10_Sprint1</dc:title>
  <dc:creator/>
  <dc:description>generated using python-pptx</dc:description>
  <dc:subject>SweaterCo GM Co-Pilot Sprint 1</dc:subject>
  <cp:lastModifiedBy>George</cp:lastModifiedBy>
  <cp:revision>3</cp:revision>
  <dcterms:created xsi:type="dcterms:W3CDTF">2013-01-27T09:14:00Z</dcterms:created>
  <dcterms:modified xsi:type="dcterms:W3CDTF">2026-10-12T16:11:14Z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13076EF41D2B4910939D4BEC7632EA9B_12</vt:lpwstr>
  </property>
</Properties>
</file>